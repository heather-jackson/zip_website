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Poppins"/>
      <p:regular r:id="rId16"/>
      <p:bold r:id="rId17"/>
      <p:italic r:id="rId18"/>
      <p:boldItalic r:id="rId19"/>
    </p:embeddedFont>
    <p:embeddedFont>
      <p:font typeface="Open Sans Medium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91">
          <p15:clr>
            <a:srgbClr val="747775"/>
          </p15:clr>
        </p15:guide>
        <p15:guide id="2" pos="276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91" orient="horz"/>
        <p:guide pos="276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Medium-regular.fntdata"/><Relationship Id="rId22" Type="http://schemas.openxmlformats.org/officeDocument/2006/relationships/font" Target="fonts/OpenSansMedium-italic.fntdata"/><Relationship Id="rId21" Type="http://schemas.openxmlformats.org/officeDocument/2006/relationships/font" Target="fonts/OpenSansMedium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Open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503091a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503091a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503091a3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503091a3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503091a3e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503091a3e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03091a3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503091a3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503091a3e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503091a3e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03091a3e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503091a3e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E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www.thelancet.com/journals/landig/article/PIIS2589-7500(23)00149-8/fulltext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thelancet.com/journals/landig/article/PIIS2589-7500(23)00149-8/fulltext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patentscope.wipo.int/search/en/detail.jsf?docId=WO2025040922&amp;_cid=P12-MNQ6TZ-04214-1" TargetMode="External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420725" y="1787775"/>
            <a:ext cx="1139400" cy="355200"/>
          </a:xfrm>
          <a:prstGeom prst="rect">
            <a:avLst/>
          </a:prstGeom>
          <a:solidFill>
            <a:srgbClr val="F172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26400" y="202975"/>
            <a:ext cx="8453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7223"/>
                </a:solidFill>
                <a:latin typeface="Montserrat"/>
                <a:ea typeface="Montserrat"/>
                <a:cs typeface="Montserrat"/>
                <a:sym typeface="Montserrat"/>
              </a:rPr>
              <a:t>Project 1 - Identifying Protein Biomarkers for Diagnosing Paediatric Infectious Disease </a:t>
            </a:r>
            <a:endParaRPr b="1">
              <a:solidFill>
                <a:srgbClr val="F1722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658716" y="934404"/>
            <a:ext cx="41673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Project </a:t>
            </a:r>
            <a:r>
              <a:rPr b="1" lang="en-GB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Background 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861" y="4708700"/>
            <a:ext cx="1139315" cy="3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6517757" y="4801164"/>
            <a:ext cx="2958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Read the paper</a:t>
            </a:r>
            <a:r>
              <a:rPr lang="en-GB" sz="900">
                <a:solidFill>
                  <a:srgbClr val="F1722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900" u="sng">
                <a:solidFill>
                  <a:srgbClr val="F17223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 sz="900">
              <a:solidFill>
                <a:srgbClr val="F172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463025" y="1749290"/>
            <a:ext cx="10872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Aim 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577125" y="2136938"/>
            <a:ext cx="28590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</a:t>
            </a:r>
            <a:r>
              <a:rPr lang="en-GB" sz="11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 identify </a:t>
            </a:r>
            <a:r>
              <a:rPr b="1" lang="en-GB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host protein biomarkers </a:t>
            </a:r>
            <a:r>
              <a:rPr lang="en-GB" sz="11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 development into an accurate, </a:t>
            </a:r>
            <a:r>
              <a:rPr b="1" lang="en-GB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rapid point-of-care test</a:t>
            </a:r>
            <a:r>
              <a:rPr lang="en-GB" sz="11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that can distinguish between bacterial and viral infections in febrile children </a:t>
            </a:r>
            <a:endParaRPr sz="11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61" name="Google Shape;61;p13" title="Zip Logo No B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00" y="4243024"/>
            <a:ext cx="1332200" cy="133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3"/>
          <p:cNvCxnSpPr/>
          <p:nvPr/>
        </p:nvCxnSpPr>
        <p:spPr>
          <a:xfrm>
            <a:off x="5543675" y="2151700"/>
            <a:ext cx="2925900" cy="0"/>
          </a:xfrm>
          <a:prstGeom prst="straightConnector1">
            <a:avLst/>
          </a:prstGeom>
          <a:noFill/>
          <a:ln cap="flat" cmpd="sng" w="19050">
            <a:solidFill>
              <a:srgbClr val="F1722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3" name="Google Shape;63;p13" title="Distinguishing between bacterial and viral infections in febrile children is a common challeng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9306" y="1202668"/>
            <a:ext cx="3374269" cy="3374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388913" y="859888"/>
            <a:ext cx="41673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Phase 1 - biomarker discovery 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9" name="Google Shape;69;p14"/>
          <p:cNvGrpSpPr/>
          <p:nvPr/>
        </p:nvGrpSpPr>
        <p:grpSpPr>
          <a:xfrm>
            <a:off x="641654" y="1404030"/>
            <a:ext cx="4181363" cy="2735841"/>
            <a:chOff x="583325" y="1535825"/>
            <a:chExt cx="3979976" cy="2604075"/>
          </a:xfrm>
        </p:grpSpPr>
        <p:sp>
          <p:nvSpPr>
            <p:cNvPr id="70" name="Google Shape;70;p14"/>
            <p:cNvSpPr/>
            <p:nvPr/>
          </p:nvSpPr>
          <p:spPr>
            <a:xfrm>
              <a:off x="586100" y="1548500"/>
              <a:ext cx="3977100" cy="259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6050" lIns="96050" spcFirstLastPara="1" rIns="96050" wrap="square" tIns="96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71"/>
            </a:p>
          </p:txBody>
        </p:sp>
        <p:pic>
          <p:nvPicPr>
            <p:cNvPr id="71" name="Google Shape;71;p14" title="Screenshot 2026-04-07 at 15.15.08.png"/>
            <p:cNvPicPr preferRelativeResize="0"/>
            <p:nvPr/>
          </p:nvPicPr>
          <p:blipFill rotWithShape="1">
            <a:blip r:embed="rId3">
              <a:alphaModFix/>
            </a:blip>
            <a:srcRect b="328" l="0" r="0" t="6057"/>
            <a:stretch/>
          </p:blipFill>
          <p:spPr>
            <a:xfrm>
              <a:off x="609300" y="1585500"/>
              <a:ext cx="3954001" cy="2482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4"/>
            <p:cNvSpPr/>
            <p:nvPr/>
          </p:nvSpPr>
          <p:spPr>
            <a:xfrm>
              <a:off x="583325" y="1535825"/>
              <a:ext cx="3977100" cy="2604000"/>
            </a:xfrm>
            <a:prstGeom prst="rect">
              <a:avLst/>
            </a:prstGeom>
            <a:noFill/>
            <a:ln cap="flat" cmpd="sng" w="10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050" lIns="96050" spcFirstLastPara="1" rIns="96050" wrap="square" tIns="96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71"/>
            </a:p>
          </p:txBody>
        </p:sp>
      </p:grpSp>
      <p:sp>
        <p:nvSpPr>
          <p:cNvPr id="73" name="Google Shape;73;p14"/>
          <p:cNvSpPr txBox="1"/>
          <p:nvPr/>
        </p:nvSpPr>
        <p:spPr>
          <a:xfrm>
            <a:off x="5107931" y="1404025"/>
            <a:ext cx="36321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Using three high-dimensional proteomic datasets generated from two types of platforms, I performed extensive data pre-processing and quality 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control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 Each dataset contained samples from 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patients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with confirmed bacterial and viral infections with no overlapping patients between datasets.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exact pre-processing pipeline differed 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according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to the specifics of the proteomic platform (i.e., targeted </a:t>
            </a:r>
            <a:r>
              <a:rPr i="1"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vs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 untargeted quantification).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goal of this phase was to identify a shortlist of protein biomarker candidates to take forward into cross-platform 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validation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26400" y="202975"/>
            <a:ext cx="8453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7223"/>
                </a:solidFill>
                <a:latin typeface="Montserrat"/>
                <a:ea typeface="Montserrat"/>
                <a:cs typeface="Montserrat"/>
                <a:sym typeface="Montserrat"/>
              </a:rPr>
              <a:t>Project 1 - Identifying Protein Biomarkers for Diagnosing Paediatric Infectious Disease </a:t>
            </a:r>
            <a:endParaRPr b="1">
              <a:solidFill>
                <a:srgbClr val="F1722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652450" y="3903800"/>
            <a:ext cx="2150400" cy="129900"/>
          </a:xfrm>
          <a:prstGeom prst="rect">
            <a:avLst/>
          </a:prstGeom>
          <a:solidFill>
            <a:srgbClr val="F6E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4" title="Screenshot 2026-04-07 at 15.15.08.png"/>
          <p:cNvPicPr preferRelativeResize="0"/>
          <p:nvPr/>
        </p:nvPicPr>
        <p:blipFill rotWithShape="1">
          <a:blip r:embed="rId3">
            <a:alphaModFix/>
          </a:blip>
          <a:srcRect b="1901" l="24682" r="55573" t="93436"/>
          <a:stretch/>
        </p:blipFill>
        <p:spPr>
          <a:xfrm>
            <a:off x="2287450" y="3889373"/>
            <a:ext cx="820225" cy="1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Zip Logo No 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00" y="4243024"/>
            <a:ext cx="1332200" cy="13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 title="Screenshot 2026-04-07 at 15.30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2050" y="682450"/>
            <a:ext cx="4546973" cy="42644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" name="Google Shape;83;p15"/>
          <p:cNvSpPr txBox="1"/>
          <p:nvPr/>
        </p:nvSpPr>
        <p:spPr>
          <a:xfrm>
            <a:off x="297025" y="1449225"/>
            <a:ext cx="3596700" cy="27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 applied differential abundance analysis to the three proteomic datasets, identifying a long list of proteins with different levels between bacterial </a:t>
            </a:r>
            <a:r>
              <a:rPr i="1"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vs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 viral infections.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Then, to each dataset, I applied a machine learning algorithm that combines forward selection with partial least squares (FS-PLS) with repeated cross-validation, identifying hundreds of potential biomarker models.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 created a ranking method, considering both differential abundance 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analysis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and FS-PLS results, taking forward the most promising candidates and those that were repeatedly selected across datasets and between iterations.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6589659" y="3508031"/>
            <a:ext cx="2415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SomaScan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 431 significant proteins</a:t>
            </a:r>
            <a:endParaRPr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MS-A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 54 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significant 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proteins</a:t>
            </a:r>
            <a:endParaRPr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MS-B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 97 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significant 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proteins</a:t>
            </a:r>
            <a:endParaRPr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16 proteins 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significant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in all 3 datasets</a:t>
            </a:r>
            <a:endParaRPr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226400" y="202975"/>
            <a:ext cx="8453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7223"/>
                </a:solidFill>
                <a:latin typeface="Montserrat"/>
                <a:ea typeface="Montserrat"/>
                <a:cs typeface="Montserrat"/>
                <a:sym typeface="Montserrat"/>
              </a:rPr>
              <a:t>Project 1 - Identifying Protein Biomarkers for Diagnosing Paediatric Infectious Disease </a:t>
            </a:r>
            <a:endParaRPr b="1">
              <a:solidFill>
                <a:srgbClr val="F1722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88913" y="859888"/>
            <a:ext cx="41673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Phase 1 - biomarker discovery 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>
            <a:off x="3787358" y="1828895"/>
            <a:ext cx="317400" cy="0"/>
          </a:xfrm>
          <a:prstGeom prst="straightConnector1">
            <a:avLst/>
          </a:prstGeom>
          <a:noFill/>
          <a:ln cap="flat" cmpd="sng" w="9525">
            <a:solidFill>
              <a:srgbClr val="F1722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5"/>
          <p:cNvSpPr txBox="1"/>
          <p:nvPr/>
        </p:nvSpPr>
        <p:spPr>
          <a:xfrm>
            <a:off x="1962700" y="4143973"/>
            <a:ext cx="19917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F17223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35 biomarker candidates</a:t>
            </a:r>
            <a:endParaRPr i="1" sz="1100">
              <a:solidFill>
                <a:srgbClr val="F17223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1645308" y="4323707"/>
            <a:ext cx="317400" cy="0"/>
          </a:xfrm>
          <a:prstGeom prst="straightConnector1">
            <a:avLst/>
          </a:prstGeom>
          <a:noFill/>
          <a:ln cap="flat" cmpd="sng" w="9525">
            <a:solidFill>
              <a:srgbClr val="F1722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5"/>
          <p:cNvCxnSpPr/>
          <p:nvPr/>
        </p:nvCxnSpPr>
        <p:spPr>
          <a:xfrm>
            <a:off x="1648400" y="4025698"/>
            <a:ext cx="0" cy="303000"/>
          </a:xfrm>
          <a:prstGeom prst="straightConnector1">
            <a:avLst/>
          </a:prstGeom>
          <a:noFill/>
          <a:ln cap="flat" cmpd="sng" w="9525">
            <a:solidFill>
              <a:srgbClr val="F1722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" name="Google Shape;91;p15" title="Zip Logo No 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00" y="4243024"/>
            <a:ext cx="1332200" cy="13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3697625" y="1434927"/>
            <a:ext cx="50361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 the 35 protein biomarker candidates, 28 were measured u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sing ELISA and Luminex immunoassays – low-throughput quantification methods that are more similar to point-of-care methodologies.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 applied FS-PLS with repeated cross-validation to this pool of 28 protein biomarkers, 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identifying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 signature composed of the following 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proteins and selected in 7/25 iterations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NCAM1, IL18, SELE, NGAL and IFN-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γ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226400" y="202975"/>
            <a:ext cx="8453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7223"/>
                </a:solidFill>
                <a:latin typeface="Montserrat"/>
                <a:ea typeface="Montserrat"/>
                <a:cs typeface="Montserrat"/>
                <a:sym typeface="Montserrat"/>
              </a:rPr>
              <a:t>Project 1 - Identifying Protein Biomarkers for Diagnosing Paediatric Infectious Disease </a:t>
            </a:r>
            <a:endParaRPr b="1">
              <a:solidFill>
                <a:srgbClr val="F1722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88923" y="859900"/>
            <a:ext cx="87552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Phase 2 - signature refinement and cross-platform validation 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6963601" y="2871282"/>
            <a:ext cx="1799100" cy="1718700"/>
            <a:chOff x="3867325" y="3082400"/>
            <a:chExt cx="1799100" cy="1718700"/>
          </a:xfrm>
        </p:grpSpPr>
        <p:sp>
          <p:nvSpPr>
            <p:cNvPr id="100" name="Google Shape;100;p16"/>
            <p:cNvSpPr/>
            <p:nvPr/>
          </p:nvSpPr>
          <p:spPr>
            <a:xfrm>
              <a:off x="3867325" y="3082400"/>
              <a:ext cx="1799100" cy="171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1" name="Google Shape;101;p16" title="Screenshot 2026-04-08 at 14.24.34.png"/>
            <p:cNvPicPr preferRelativeResize="0"/>
            <p:nvPr/>
          </p:nvPicPr>
          <p:blipFill rotWithShape="1">
            <a:blip r:embed="rId3">
              <a:alphaModFix/>
            </a:blip>
            <a:srcRect b="0" l="0" r="0" t="2496"/>
            <a:stretch/>
          </p:blipFill>
          <p:spPr>
            <a:xfrm>
              <a:off x="3888863" y="3115869"/>
              <a:ext cx="1755324" cy="16531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" name="Google Shape;102;p16"/>
          <p:cNvGrpSpPr/>
          <p:nvPr/>
        </p:nvGrpSpPr>
        <p:grpSpPr>
          <a:xfrm>
            <a:off x="536215" y="1688441"/>
            <a:ext cx="2958114" cy="2472072"/>
            <a:chOff x="1093600" y="1535825"/>
            <a:chExt cx="3116100" cy="2604100"/>
          </a:xfrm>
        </p:grpSpPr>
        <p:sp>
          <p:nvSpPr>
            <p:cNvPr id="103" name="Google Shape;103;p16"/>
            <p:cNvSpPr/>
            <p:nvPr/>
          </p:nvSpPr>
          <p:spPr>
            <a:xfrm>
              <a:off x="1093600" y="1542825"/>
              <a:ext cx="3116100" cy="2597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86775" lIns="86775" spcFirstLastPara="1" rIns="86775" wrap="square" tIns="86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9"/>
            </a:p>
          </p:txBody>
        </p:sp>
        <p:pic>
          <p:nvPicPr>
            <p:cNvPr id="104" name="Google Shape;104;p16" title="Screenshot 2026-04-07 at 15.20.19.png"/>
            <p:cNvPicPr preferRelativeResize="0"/>
            <p:nvPr/>
          </p:nvPicPr>
          <p:blipFill rotWithShape="1">
            <a:blip r:embed="rId4">
              <a:alphaModFix/>
            </a:blip>
            <a:srcRect b="451" l="12755" r="8900" t="1432"/>
            <a:stretch/>
          </p:blipFill>
          <p:spPr>
            <a:xfrm>
              <a:off x="1093600" y="1638325"/>
              <a:ext cx="3116098" cy="240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/>
            <p:nvPr/>
          </p:nvSpPr>
          <p:spPr>
            <a:xfrm>
              <a:off x="1093600" y="1535825"/>
              <a:ext cx="3116100" cy="2604000"/>
            </a:xfrm>
            <a:prstGeom prst="rect">
              <a:avLst/>
            </a:prstGeom>
            <a:noFill/>
            <a:ln cap="flat" cmpd="sng" w="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75" lIns="86775" spcFirstLastPara="1" rIns="86775" wrap="square" tIns="86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9"/>
            </a:p>
          </p:txBody>
        </p:sp>
      </p:grpSp>
      <p:sp>
        <p:nvSpPr>
          <p:cNvPr id="106" name="Google Shape;106;p16"/>
          <p:cNvSpPr txBox="1"/>
          <p:nvPr/>
        </p:nvSpPr>
        <p:spPr>
          <a:xfrm>
            <a:off x="3697625" y="2727565"/>
            <a:ext cx="29580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signature performed well overall (AUC: 89.1%), with high sensitivity for bacterial infections (90.4%) but lower specificity (67%), mislabelling about one-third of viral cases as bacterial.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 identified Galectin-3BP as 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an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additional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marker to improve discrimination between bacterial and viral infections in cases where bacterial infections appeared more viral clinically.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107" name="Google Shape;107;p16"/>
          <p:cNvCxnSpPr/>
          <p:nvPr/>
        </p:nvCxnSpPr>
        <p:spPr>
          <a:xfrm>
            <a:off x="6506047" y="3086809"/>
            <a:ext cx="317400" cy="0"/>
          </a:xfrm>
          <a:prstGeom prst="straightConnector1">
            <a:avLst/>
          </a:prstGeom>
          <a:noFill/>
          <a:ln cap="flat" cmpd="sng" w="9525">
            <a:solidFill>
              <a:srgbClr val="F1722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8" name="Google Shape;108;p16" title="Zip Logo No B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00" y="4243024"/>
            <a:ext cx="1332200" cy="13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4014100" y="1305450"/>
            <a:ext cx="47469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 further validation study was performed using Luminex, this time measuring the 6 optimal proteins identified in phase 2 (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NCAM1, IL18, SELE, NGAL, IFN-γ, Galectin-3BP).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signature performed well overall (AUC &gt;89%) and could accurately identify both bacterial (sensitivity: 88.1%) and viral (specificity: 84.9%) infections.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468323" y="1468894"/>
            <a:ext cx="3306086" cy="2428300"/>
            <a:chOff x="784400" y="1535825"/>
            <a:chExt cx="3545400" cy="2604075"/>
          </a:xfrm>
        </p:grpSpPr>
        <p:sp>
          <p:nvSpPr>
            <p:cNvPr id="115" name="Google Shape;115;p17"/>
            <p:cNvSpPr/>
            <p:nvPr/>
          </p:nvSpPr>
          <p:spPr>
            <a:xfrm>
              <a:off x="784400" y="1548500"/>
              <a:ext cx="3545400" cy="259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85250" lIns="85250" spcFirstLastPara="1" rIns="85250" wrap="square" tIns="8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5"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784400" y="1535825"/>
              <a:ext cx="3545400" cy="2604000"/>
            </a:xfrm>
            <a:prstGeom prst="rect">
              <a:avLst/>
            </a:prstGeom>
            <a:noFill/>
            <a:ln cap="flat" cmpd="sng" w="88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250" lIns="85250" spcFirstLastPara="1" rIns="85250" wrap="square" tIns="8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5"/>
            </a:p>
          </p:txBody>
        </p:sp>
        <p:pic>
          <p:nvPicPr>
            <p:cNvPr id="117" name="Google Shape;117;p17" title="Screenshot 2026-04-07 at 15.23.10.png"/>
            <p:cNvPicPr preferRelativeResize="0"/>
            <p:nvPr/>
          </p:nvPicPr>
          <p:blipFill rotWithShape="1">
            <a:blip r:embed="rId3">
              <a:alphaModFix/>
            </a:blip>
            <a:srcRect b="0" l="0" r="3073" t="0"/>
            <a:stretch/>
          </p:blipFill>
          <p:spPr>
            <a:xfrm>
              <a:off x="887359" y="1558425"/>
              <a:ext cx="3436449" cy="2539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17"/>
          <p:cNvSpPr txBox="1"/>
          <p:nvPr/>
        </p:nvSpPr>
        <p:spPr>
          <a:xfrm>
            <a:off x="226400" y="202975"/>
            <a:ext cx="8453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7223"/>
                </a:solidFill>
                <a:latin typeface="Montserrat"/>
                <a:ea typeface="Montserrat"/>
                <a:cs typeface="Montserrat"/>
                <a:sym typeface="Montserrat"/>
              </a:rPr>
              <a:t>Project 1 - Identifying Protein Biomarkers for Diagnosing Paediatric Infectious Disease </a:t>
            </a:r>
            <a:endParaRPr b="1">
              <a:solidFill>
                <a:srgbClr val="F1722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88923" y="859900"/>
            <a:ext cx="87552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Phase 3 - final signature validation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6655896" y="2657256"/>
            <a:ext cx="2145223" cy="1827000"/>
            <a:chOff x="5179971" y="2954625"/>
            <a:chExt cx="2145223" cy="1827000"/>
          </a:xfrm>
        </p:grpSpPr>
        <p:sp>
          <p:nvSpPr>
            <p:cNvPr id="121" name="Google Shape;121;p17"/>
            <p:cNvSpPr/>
            <p:nvPr/>
          </p:nvSpPr>
          <p:spPr>
            <a:xfrm>
              <a:off x="5222800" y="3121825"/>
              <a:ext cx="2064600" cy="1526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2" name="Google Shape;122;p17" title="Screenshot 2026-04-08 at 15.50.28.png"/>
            <p:cNvPicPr preferRelativeResize="0"/>
            <p:nvPr/>
          </p:nvPicPr>
          <p:blipFill rotWithShape="1">
            <a:blip r:embed="rId4">
              <a:alphaModFix/>
            </a:blip>
            <a:srcRect b="20596" l="10762" r="0" t="2380"/>
            <a:stretch/>
          </p:blipFill>
          <p:spPr>
            <a:xfrm>
              <a:off x="5441350" y="3149575"/>
              <a:ext cx="1827051" cy="1291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7"/>
            <p:cNvSpPr txBox="1"/>
            <p:nvPr/>
          </p:nvSpPr>
          <p:spPr>
            <a:xfrm>
              <a:off x="5346594" y="4367396"/>
              <a:ext cx="5028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500">
                  <a:solidFill>
                    <a:schemeClr val="dk2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True bacterial</a:t>
              </a:r>
              <a:endParaRPr i="1" sz="5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6822394" y="4367406"/>
              <a:ext cx="5028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500">
                  <a:solidFill>
                    <a:schemeClr val="dk2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True </a:t>
              </a:r>
              <a:endParaRPr i="1" sz="5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500">
                  <a:solidFill>
                    <a:schemeClr val="dk2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viral</a:t>
              </a:r>
              <a:endParaRPr i="1" sz="5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5692150" y="4396056"/>
              <a:ext cx="7689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500">
                  <a:solidFill>
                    <a:srgbClr val="A50026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Likely </a:t>
              </a:r>
              <a:r>
                <a:rPr i="1" lang="en-GB" sz="500">
                  <a:solidFill>
                    <a:srgbClr val="A50026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bacterial</a:t>
              </a:r>
              <a:endParaRPr i="1" sz="500">
                <a:solidFill>
                  <a:srgbClr val="A50026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6417269" y="4396046"/>
              <a:ext cx="5028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500">
                  <a:solidFill>
                    <a:srgbClr val="313696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Likely viral </a:t>
              </a:r>
              <a:endParaRPr i="1" sz="500">
                <a:solidFill>
                  <a:srgbClr val="313696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cxnSp>
          <p:nvCxnSpPr>
            <p:cNvPr id="127" name="Google Shape;127;p17"/>
            <p:cNvCxnSpPr/>
            <p:nvPr/>
          </p:nvCxnSpPr>
          <p:spPr>
            <a:xfrm>
              <a:off x="5800250" y="4472600"/>
              <a:ext cx="567600" cy="0"/>
            </a:xfrm>
            <a:prstGeom prst="straightConnector1">
              <a:avLst/>
            </a:prstGeom>
            <a:noFill/>
            <a:ln cap="flat" cmpd="sng" w="9525">
              <a:solidFill>
                <a:srgbClr val="A5002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17"/>
            <p:cNvCxnSpPr/>
            <p:nvPr/>
          </p:nvCxnSpPr>
          <p:spPr>
            <a:xfrm>
              <a:off x="6463779" y="4472600"/>
              <a:ext cx="446700" cy="0"/>
            </a:xfrm>
            <a:prstGeom prst="straightConnector1">
              <a:avLst/>
            </a:prstGeom>
            <a:noFill/>
            <a:ln cap="flat" cmpd="sng" w="9525">
              <a:solidFill>
                <a:srgbClr val="31369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" name="Google Shape;129;p17"/>
            <p:cNvSpPr txBox="1"/>
            <p:nvPr/>
          </p:nvSpPr>
          <p:spPr>
            <a:xfrm rot="-5400000">
              <a:off x="4382571" y="3752025"/>
              <a:ext cx="18270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500">
                  <a:solidFill>
                    <a:schemeClr val="dk2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Bacterial classification score</a:t>
              </a:r>
              <a:endParaRPr i="1" sz="5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cxnSp>
          <p:nvCxnSpPr>
            <p:cNvPr id="130" name="Google Shape;130;p17"/>
            <p:cNvCxnSpPr/>
            <p:nvPr/>
          </p:nvCxnSpPr>
          <p:spPr>
            <a:xfrm flipH="1" rot="10800000">
              <a:off x="5374659" y="3289225"/>
              <a:ext cx="300" cy="1046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131" name="Google Shape;131;p17"/>
          <p:cNvSpPr txBox="1"/>
          <p:nvPr/>
        </p:nvSpPr>
        <p:spPr>
          <a:xfrm>
            <a:off x="4014100" y="2594150"/>
            <a:ext cx="26418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Signature discovery used confirmed cases, but most real-world cases are unconfirmed. In suspected (but unconfirmed) cases, the signature still aligned with clinical assessment, identifying likely bacterial and viral infections correctly.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suggests it could support more confident treatment decisions in children.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32" name="Google Shape;132;p17" title="Zip Logo No B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00" y="4243024"/>
            <a:ext cx="1332200" cy="13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226400" y="202975"/>
            <a:ext cx="8453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7223"/>
                </a:solidFill>
                <a:latin typeface="Montserrat"/>
                <a:ea typeface="Montserrat"/>
                <a:cs typeface="Montserrat"/>
                <a:sym typeface="Montserrat"/>
              </a:rPr>
              <a:t>Project 1 - Identifying Protein Biomarkers for Diagnosing Paediatric Infectious Disease </a:t>
            </a:r>
            <a:endParaRPr b="1">
              <a:solidFill>
                <a:srgbClr val="F1722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5357982" y="2641308"/>
            <a:ext cx="2958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Read the paper</a:t>
            </a:r>
            <a:r>
              <a:rPr lang="en-GB" sz="900">
                <a:solidFill>
                  <a:srgbClr val="F1722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900" u="sng">
                <a:solidFill>
                  <a:srgbClr val="F17223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 sz="900">
              <a:solidFill>
                <a:srgbClr val="F172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18" title="Screenshot 2026-04-08 at 16.03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4188" y="1862842"/>
            <a:ext cx="3872049" cy="8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782375" y="1039300"/>
            <a:ext cx="36915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Project Conclusions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533800" y="1412500"/>
            <a:ext cx="32760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Through interrogating 5 different datasets, I successfully identified a 6-protein signature that displayed excellent performance in distinguishing between bacterial and viral infections.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Furthermore, the signature showed potential to improve diagnosis in borderline or uncertain cases, which comprise the majority of childhood fevers.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If integrated into routine clinical practice, this signature could reduce the burden of antimicrobial resistance while ensuring children with serious bacterial infections receive timely treatment.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5481375" y="974575"/>
            <a:ext cx="1364100" cy="355200"/>
          </a:xfrm>
          <a:prstGeom prst="rect">
            <a:avLst/>
          </a:prstGeom>
          <a:solidFill>
            <a:srgbClr val="F172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363211" y="936100"/>
            <a:ext cx="16071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Outcomes</a:t>
            </a:r>
            <a:r>
              <a:rPr b="1" lang="en-GB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GB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44" name="Google Shape;144;p18"/>
          <p:cNvCxnSpPr/>
          <p:nvPr/>
        </p:nvCxnSpPr>
        <p:spPr>
          <a:xfrm>
            <a:off x="4410075" y="1320927"/>
            <a:ext cx="3506700" cy="3600"/>
          </a:xfrm>
          <a:prstGeom prst="straightConnector1">
            <a:avLst/>
          </a:prstGeom>
          <a:noFill/>
          <a:ln cap="flat" cmpd="sng" w="19050">
            <a:solidFill>
              <a:srgbClr val="F1722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8"/>
          <p:cNvSpPr txBox="1"/>
          <p:nvPr/>
        </p:nvSpPr>
        <p:spPr>
          <a:xfrm>
            <a:off x="4377138" y="1361750"/>
            <a:ext cx="369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Published in a leading peer-reviewed journal (Lancet Digital Health) with an 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impact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factor of 24.1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46" name="Google Shape;146;p18" title="Distinguishing between bacterial and viral infections in febrile children is a common challenge.png"/>
          <p:cNvPicPr preferRelativeResize="0"/>
          <p:nvPr/>
        </p:nvPicPr>
        <p:blipFill rotWithShape="1">
          <a:blip r:embed="rId5">
            <a:alphaModFix/>
          </a:blip>
          <a:srcRect b="32510" l="0" r="91823" t="60840"/>
          <a:stretch/>
        </p:blipFill>
        <p:spPr>
          <a:xfrm>
            <a:off x="4101250" y="1411299"/>
            <a:ext cx="275901" cy="2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title="Distinguishing between bacterial and viral infections in febrile children is a common challenge.png"/>
          <p:cNvPicPr preferRelativeResize="0"/>
          <p:nvPr/>
        </p:nvPicPr>
        <p:blipFill rotWithShape="1">
          <a:blip r:embed="rId5">
            <a:alphaModFix/>
          </a:blip>
          <a:srcRect b="32510" l="0" r="91823" t="60840"/>
          <a:stretch/>
        </p:blipFill>
        <p:spPr>
          <a:xfrm>
            <a:off x="4101250" y="2996499"/>
            <a:ext cx="275901" cy="2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4317675" y="2963925"/>
            <a:ext cx="36915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Patent filed to protect the 6-protein signature (</a:t>
            </a:r>
            <a:r>
              <a:rPr lang="en-GB" sz="1000" u="sng">
                <a:solidFill>
                  <a:srgbClr val="F17223"/>
                </a:solidFill>
                <a:latin typeface="Open Sans Medium"/>
                <a:ea typeface="Open Sans Medium"/>
                <a:cs typeface="Open Sans Medium"/>
                <a:sym typeface="Open Sans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): 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7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 host protein signature for distinguishing between bacterial and viral infections in febrile children filed August 2024 (International Patent Cooperation Treaty number: PCT/GB2024/052214) by Jackson, HR, Kaforou, M, Levin, M, Kuijpers, T, de Jonge, M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4333274" y="3970563"/>
            <a:ext cx="366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Ongoing work to translate the signature into a rapid point-of-care diagnostic test (Imperial College).</a:t>
            </a:r>
            <a:endParaRPr sz="10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50" name="Google Shape;150;p18" title="Distinguishing between bacterial and viral infections in febrile children is a common challenge.png"/>
          <p:cNvPicPr preferRelativeResize="0"/>
          <p:nvPr/>
        </p:nvPicPr>
        <p:blipFill rotWithShape="1">
          <a:blip r:embed="rId5">
            <a:alphaModFix/>
          </a:blip>
          <a:srcRect b="32510" l="0" r="91823" t="60840"/>
          <a:stretch/>
        </p:blipFill>
        <p:spPr>
          <a:xfrm>
            <a:off x="4101250" y="4023667"/>
            <a:ext cx="275901" cy="2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title="Zip Logo No B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700" y="4243024"/>
            <a:ext cx="1332200" cy="13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